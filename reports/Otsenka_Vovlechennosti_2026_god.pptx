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Оценка уровня вовлеченности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F5C242"/>
                </a:solidFill>
                <a:latin typeface="Calibri"/>
              </a:rPr>
              <a:t>сотрудников компании «РУСОЙЛ» за 2026 год.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Оптовое направление: офис / коммерция и СиТЛ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201168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2F2F"/>
                </a:solidFill>
                <a:latin typeface="Calibri"/>
              </a:rPr>
              <a:t>Анкетирование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713232"/>
            <a:ext cx="9875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Опрос проведён 10–21 августа 2026. Два опросника — по направлениям, с разным набором вопросов. В расчёт взяты только полностью пройденные анкеты.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3657600" cy="1417320"/>
          </a:xfrm>
          <a:prstGeom prst="round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0000" cy="141732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5C242"/>
                </a:solidFill>
                <a:latin typeface="Calibri"/>
              </a:rPr>
              <a:t>Явка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102 / 327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DDDDDD"/>
                </a:solidFill>
                <a:latin typeface="Calibri"/>
              </a:rPr>
              <a:t>31,2% сотрудников  ·  в 2025 было 36%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57600" cy="1417320"/>
          </a:xfrm>
          <a:prstGeom prst="round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90000" cy="1417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5C242"/>
                </a:solidFill>
                <a:latin typeface="Calibri"/>
              </a:rPr>
              <a:t>Офис / коммерция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55648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67 анкет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42316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DDDDDD"/>
                </a:solidFill>
                <a:latin typeface="Calibri"/>
              </a:rPr>
              <a:t>завершено 67 из 80 стартов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611880" cy="1417320"/>
          </a:xfrm>
          <a:prstGeom prst="round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90000" cy="14173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81328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5C242"/>
                </a:solidFill>
                <a:latin typeface="Calibri"/>
              </a:rPr>
              <a:t>СиТЛ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755648"/>
            <a:ext cx="3246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35 анкет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23160"/>
            <a:ext cx="3246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DDDDDD"/>
                </a:solidFill>
                <a:latin typeface="Calibri"/>
              </a:rPr>
              <a:t>склад 25  ·  транспорт 10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2971800"/>
          <a:ext cx="11201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05840"/>
                <a:gridCol w="2926080"/>
                <a:gridCol w="1005840"/>
                <a:gridCol w="333756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Офис, отдел (укрупнённо)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СиТЛ, отдел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Города (оба потока)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Коммерческая служба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Складская логистика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Тюмень 49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Маркетинг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Транспортная логистика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Сургут 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Бухгалтерия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Омск 15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ОУТЗ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Ханты-Мансийск 6 / Н. Уренгой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АУП / СБ / HR / прочее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 / 3 / 1 / 6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Курган 4 / Нижневартовск 6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201168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2F2F"/>
                </a:solidFill>
                <a:latin typeface="Calibri"/>
              </a:rPr>
              <a:t>Общий рейтинг по направлениям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713232"/>
            <a:ext cx="9875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KPI как в 2025: среднее всех оценок 0–10 внутри направления, переведённое в % от 10. Общую «смесь» офис+СиТЛ не считаем.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212080" cy="1783080"/>
          </a:xfrm>
          <a:prstGeom prst="round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90000" cy="1783080"/>
          </a:xfrm>
          <a:prstGeom prst="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5C242"/>
                </a:solidFill>
                <a:latin typeface="Calibri"/>
              </a:rPr>
              <a:t>Офис / коммерция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88,0%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DDDDDD"/>
                </a:solidFill>
                <a:latin typeface="Calibri"/>
              </a:rPr>
              <a:t>среднее 8,80 из 10  ·  9 шкал  ·  n = 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212080" cy="1783080"/>
          </a:xfrm>
          <a:prstGeom prst="roundRect">
            <a:avLst/>
          </a:prstGeom>
          <a:solidFill>
            <a:srgbClr val="2F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90000" cy="17830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89888"/>
            <a:ext cx="4846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5C242"/>
                </a:solidFill>
                <a:latin typeface="Calibri"/>
              </a:rPr>
              <a:t>СиТЛ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64208"/>
            <a:ext cx="4846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77,1%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4846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DDDDDD"/>
                </a:solidFill>
                <a:latin typeface="Calibri"/>
              </a:rPr>
              <a:t>среднее 7,71 из 10  ·  10 шкал  ·  n = 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109728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Как читать эти цифры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88,0% и 77,1% — это не сравнение «кто лучше»: у направлений разные вопросы. У СиТЛ в шкалы входят склад, СИЗ и рабочее место.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С 76,5% за 2025 сравнивать один-в-один тоже нельзя: тогда оценивали выбранные «важные условия», сейчас — фиксированный набор шкал.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Логика та же, что год назад: среднее всех баллов / 10. Для офиса 8,80 → 88,0%. Для СиТЛ 7,71 → 77,1%.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• В 2025 цель +10 п.п. к рейтингу не была достигнута. В 2026 явка 31,2% против 36% — цель «повысить участие» тоже пока не взята.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201168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2F2F"/>
                </a:solidFill>
                <a:latin typeface="Calibri"/>
              </a:rPr>
              <a:t>Офис / коммерция — оценки условий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658368"/>
            <a:ext cx="9875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Сотрудники оценивали 9 условий от 0 до 10. Ниже — среднее и доля максимальных оценок (10), как в отчёте 2025.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51560"/>
          <a:ext cx="74980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43000"/>
                <a:gridCol w="1143000"/>
                <a:gridCol w="1188720"/>
              </a:tblGrid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Условие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Среднее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 от 10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Доля «10»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Легкость обращения к руководителю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9,45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94,5%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Комфорт работы с руководителем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9,37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93,7%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Качество обратной связи руководителя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9,24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92,4%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57%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Взаимодействие внутри отдела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9,18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91,8%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Уровень загрузки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9,10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91,0%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49%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Удовлетворённость задачами и проектами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8,54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85,4%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Удовлетворённость работой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8,49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84,9%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Коммуникации между смежными отделами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8,07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80,7%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Вознаграждение и мотивация vs вклад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7,72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77,2%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42811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ИТОГО KPI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8,80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88,0%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051560"/>
            <a:ext cx="3703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Сильные стороны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Легко обратиться к руководителю — 9,45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Комфорт с руководителем — 9,37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Обратная связь — 9,24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Отношения в отделе — 9,18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Зоны внимания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Вознаграждение — 7,72 (77%)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Коммуникации между отделами — 8,07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Карьерный рост «нет» — 43% (29 из 67)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Нет инструментов — 12% (8 из 67)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201168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2F2F"/>
                </a:solidFill>
                <a:latin typeface="Calibri"/>
              </a:rPr>
              <a:t>СиТЛ — оценки условий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658368"/>
            <a:ext cx="9875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10 шкал 0–10. Вопрос про зарплату учтён один раз (п. 8). Дублирующий п. 18 в KPI не входит.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24128"/>
          <a:ext cx="7498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143000"/>
                <a:gridCol w="1143000"/>
                <a:gridCol w="1188720"/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Условие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Среднее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% от 10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Доля «10»</a:t>
                      </a:r>
                    </a:p>
                  </a:txBody>
                  <a:tcPr anchor="ctr">
                    <a:solidFill>
                      <a:srgbClr val="2F2F2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Легкость обращения к руководителю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8,80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88,0%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Комфорт работы с руководителем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8,51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85,1%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Уровень загрузки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8,46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84,6%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Взаимодействие внутри отдела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8,20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82,0%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Взаимодействие внутри филиала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7,89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78,9%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49%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Удовлетворённость работой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7,51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75,1%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Удобство и безопасность рабочего места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7,49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74,9%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43%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Спецодежда и СИЗ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7,11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71,1%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Вознаграждение и мотивация vs вклад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6,69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66,9%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Состояние склада / автомобилей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6,43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64,3%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ИТОГО KPI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7,71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77,1%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Calibri"/>
                        </a:rPr>
                        <a:t>43%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46720" y="1024128"/>
            <a:ext cx="3703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  <a:latin typeface="Calibri"/>
              </a:rPr>
              <a:t>Сильные стороны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Легко обратиться к руководителю — 8,80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Комфорт с руководителем — 8,51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Загрузка — 8,46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Отношения в отделе — 8,20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Зоны внимания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Склад / автомобили — 6,43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Вознаграждение — 6,69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СИЗ и спецодежда — 7,11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Рабочее место — 7,49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• Идеи не учитывают — 29% (10 из 35)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201168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2F2F"/>
                </a:solidFill>
                <a:latin typeface="Calibri"/>
              </a:rPr>
              <a:t>Общий 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По шкалам 2026 рейтинг офиса / коммерции — 88,0%, СиТЛ — 77,1%. Это стабильно высокий уровень по людям и руководителю и заметный разрыв по системе вознаграждения и (для СиТЛ) по условиям труда.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Разрыв ожидание vs реальность, который стоит взять в план 2027: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Вознаграждение и мотивация — самое слабое место в обоих контурах (офис 7,72 / СиТЛ 6,69). Тема совпадает с выводом 2025.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Офис: коммуникации между смежными отделами (8,07) и карьера (43% не видят роста).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СиТЛ: состояние склада и автомобилей (6,43), СИЗ (7,11), удобство и безопасность места (7,49).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• Люди и руководитель — опора: доступность руководителя и отношения в отделе высокие и в офисе, и в СиТЛ.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Явка 31,2% (102 из 327) ниже, чем 36% в 2025. Цель прошлого года «повысить участие» не выполнена.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91640" y="201168"/>
            <a:ext cx="996696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2F2F2F"/>
                </a:solidFill>
                <a:latin typeface="Calibri"/>
              </a:rPr>
              <a:t>Рекомендации от HR-отдела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40" y="658368"/>
            <a:ext cx="987552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План опирается на меры 2025 и дополнен тем, что показали шкалы 2026.    *приоритет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*  Совещание с сотрудниками опта: показать, что оценки 2026 услышаны; отдельно разобрать офис и СиТЛ.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*  Мониторинг зарплат vs рынок, инфляция и индексация; встречи по мотивации внутри компании и от поставщиков.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СиТЛ: ремонт/утепление складов, состояние авто, СИЗ и спецобувь, базовый интернет — это прямые драйверы 77,1%.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Офис: коммуникации между отделами (регламент, стыки, 1С/автоматизация) и видимость карьерного трека / кадрового резерва.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Корпоративные квизы между филиалами, активности к юбилею компании; внутреннее развитие и делегирование сложных задач.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Повысить явку на следующий опрос (сейчас 31,2% против 36% в 2025): короче форма, напоминания, отдельный контур склада.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Оценка эффекта: повторный опрос, сравнение тех же шкал внутри направления, корректировка плана по факту.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СПАСИБО
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