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103120"/>
            <a:ext cx="109728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Оценка уровня вовлеченности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7180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>
                <a:solidFill>
                  <a:srgbClr val="F5C242"/>
                </a:solidFill>
                <a:latin typeface="Calibri"/>
              </a:rPr>
              <a:t>сотрудников компании «РУСОЙЛ» за 2026 год.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Оптовое направление: КС и СиТЛ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91640" y="201168"/>
            <a:ext cx="99669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2F2F2F"/>
                </a:solidFill>
                <a:latin typeface="Calibri"/>
              </a:rPr>
              <a:t>Анкетирование 2026 — КС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91640" y="713232"/>
            <a:ext cx="9875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Опрос проведён 10–21 августа 2026. В расчёт взяты только полностью пройденные анкеты.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554480"/>
          </a:xfrm>
          <a:prstGeom prst="round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90000" cy="1554480"/>
          </a:xfrm>
          <a:prstGeom prst="rect">
            <a:avLst/>
          </a:prstGeom>
          <a:solidFill>
            <a:srgbClr val="F5C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F5C242"/>
                </a:solidFill>
                <a:latin typeface="Calibri"/>
              </a:rPr>
              <a:t>Явка КС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64208"/>
            <a:ext cx="51206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67 из 205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5120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DDDDDD"/>
                </a:solidFill>
                <a:latin typeface="Calibri"/>
              </a:rPr>
              <a:t>32,7% сотрудников направления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280160"/>
            <a:ext cx="5440680" cy="1554480"/>
          </a:xfrm>
          <a:prstGeom prst="round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280160"/>
            <a:ext cx="90000" cy="15544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89888"/>
            <a:ext cx="5074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F5C242"/>
                </a:solidFill>
                <a:latin typeface="Calibri"/>
              </a:rPr>
              <a:t>Численность КС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64208"/>
            <a:ext cx="50749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205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31720"/>
            <a:ext cx="5074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DDDDDD"/>
                </a:solidFill>
                <a:latin typeface="Calibri"/>
              </a:rPr>
              <a:t>коммерция, офис, смежные службы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3017520"/>
          <a:ext cx="112014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280160"/>
                <a:gridCol w="4389120"/>
                <a:gridCol w="1508760"/>
              </a:tblGrid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Отдел (укрупнённо)</a:t>
                      </a:r>
                    </a:p>
                  </a:txBody>
                  <a:tcPr anchor="ctr">
                    <a:solidFill>
                      <a:srgbClr val="2F2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anchor="ctr">
                    <a:solidFill>
                      <a:srgbClr val="2F2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Город</a:t>
                      </a:r>
                    </a:p>
                  </a:txBody>
                  <a:tcPr anchor="ctr">
                    <a:solidFill>
                      <a:srgbClr val="2F2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anchor="ctr">
                    <a:solidFill>
                      <a:srgbClr val="2F2F2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Коммерческая служба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Тюмень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Маркетинг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Омск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Бухгалтерия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Сургут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ОУТЗ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Ханты-Мансийск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АУП / СБ / HR / прочее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 / 3 / 1 / 6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Курган / Н. Уренгой / Нижневартовск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 / 2 / 1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91640" y="201168"/>
            <a:ext cx="99669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2F2F2F"/>
                </a:solidFill>
                <a:latin typeface="Calibri"/>
              </a:rPr>
              <a:t>Анкетирование 2026 — СиТЛ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91640" y="713232"/>
            <a:ext cx="9875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Опрос проведён 10–21 августа 2026. В расчёт взяты только полностью пройденные анкеты.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554480"/>
          </a:xfrm>
          <a:prstGeom prst="round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90000" cy="1554480"/>
          </a:xfrm>
          <a:prstGeom prst="rect">
            <a:avLst/>
          </a:prstGeom>
          <a:solidFill>
            <a:srgbClr val="F5C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F5C242"/>
                </a:solidFill>
                <a:latin typeface="Calibri"/>
              </a:rPr>
              <a:t>Явка СиТЛ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64208"/>
            <a:ext cx="51206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35 из 167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5120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DDDDDD"/>
                </a:solidFill>
                <a:latin typeface="Calibri"/>
              </a:rPr>
              <a:t>21,0% сотрудников направления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280160"/>
            <a:ext cx="5440680" cy="1554480"/>
          </a:xfrm>
          <a:prstGeom prst="round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280160"/>
            <a:ext cx="90000" cy="15544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89888"/>
            <a:ext cx="5074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F5C242"/>
                </a:solidFill>
                <a:latin typeface="Calibri"/>
              </a:rPr>
              <a:t>Численность СиТЛ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64208"/>
            <a:ext cx="50749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167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31720"/>
            <a:ext cx="5074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DDDDDD"/>
                </a:solidFill>
                <a:latin typeface="Calibri"/>
              </a:rPr>
              <a:t>складская и транспортная логистика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3017520"/>
          <a:ext cx="112014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280160"/>
                <a:gridCol w="4389120"/>
                <a:gridCol w="1508760"/>
              </a:tblGrid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Отдел</a:t>
                      </a:r>
                    </a:p>
                  </a:txBody>
                  <a:tcPr anchor="ctr">
                    <a:solidFill>
                      <a:srgbClr val="2F2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anchor="ctr">
                    <a:solidFill>
                      <a:srgbClr val="2F2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Город</a:t>
                      </a:r>
                    </a:p>
                  </a:txBody>
                  <a:tcPr anchor="ctr">
                    <a:solidFill>
                      <a:srgbClr val="2F2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anchor="ctr">
                    <a:solidFill>
                      <a:srgbClr val="2F2F2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Складская логистика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Тюмень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Транспортная логистика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Сургут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Нижневартовск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Новый Уренгой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Омск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91640" y="201168"/>
            <a:ext cx="99669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2F2F2F"/>
                </a:solidFill>
                <a:latin typeface="Calibri"/>
              </a:rPr>
              <a:t>Уровень вовлечённости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91640" y="713232"/>
            <a:ext cx="9875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Оптовое направление КС и СиТЛ, 2026 год.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5212080" cy="1874519"/>
          </a:xfrm>
          <a:prstGeom prst="round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90000" cy="1874519"/>
          </a:xfrm>
          <a:prstGeom prst="rect">
            <a:avLst/>
          </a:prstGeom>
          <a:solidFill>
            <a:srgbClr val="F5C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89888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F5C242"/>
                </a:solidFill>
                <a:latin typeface="Calibri"/>
              </a:rPr>
              <a:t>Вовлечённость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64208"/>
            <a:ext cx="48463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74%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48463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DDDDDD"/>
                </a:solidFill>
                <a:latin typeface="Calibri"/>
              </a:rPr>
              <a:t>7,40 из 10  ·  оптовое направление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80160"/>
            <a:ext cx="5212080" cy="1874519"/>
          </a:xfrm>
          <a:prstGeom prst="round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280160"/>
            <a:ext cx="90000" cy="1874519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389888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F5C242"/>
                </a:solidFill>
                <a:latin typeface="Calibri"/>
              </a:rPr>
              <a:t>Явка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664208"/>
            <a:ext cx="48463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102 из 372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331720"/>
            <a:ext cx="48463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DDDDDD"/>
                </a:solidFill>
                <a:latin typeface="Calibri"/>
              </a:rPr>
              <a:t>КС 67 из 205  ·  СиТЛ 35 из 167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8328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• Показатель демонстрирует стабильность к уровню 2025 года (76,5%), цель роста на 10 п.п. не достигнута.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• В опросе участвовали 102 сотрудника: 32,7% КС и 21,0% СиТЛ.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• Дальше — оценки по вопросам каждого направления: набор шкал у КС и СиТЛ разный.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91640" y="201168"/>
            <a:ext cx="99669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2F2F2F"/>
                </a:solidFill>
                <a:latin typeface="Calibri"/>
              </a:rPr>
              <a:t>КС — оценки условий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91640" y="658368"/>
            <a:ext cx="98755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Сотрудники КС оценивали 9 условий от 0 до 10. База: 67 из 205.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51560"/>
          <a:ext cx="7498080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143000"/>
                <a:gridCol w="1143000"/>
                <a:gridCol w="1188720"/>
              </a:tblGrid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Условие</a:t>
                      </a:r>
                    </a:p>
                  </a:txBody>
                  <a:tcPr anchor="ctr">
                    <a:solidFill>
                      <a:srgbClr val="2F2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Среднее</a:t>
                      </a:r>
                    </a:p>
                  </a:txBody>
                  <a:tcPr anchor="ctr">
                    <a:solidFill>
                      <a:srgbClr val="2F2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 от 10</a:t>
                      </a:r>
                    </a:p>
                  </a:txBody>
                  <a:tcPr anchor="ctr">
                    <a:solidFill>
                      <a:srgbClr val="2F2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Доля «10»</a:t>
                      </a:r>
                    </a:p>
                  </a:txBody>
                  <a:tcPr anchor="ctr">
                    <a:solidFill>
                      <a:srgbClr val="2F2F2F"/>
                    </a:solidFill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Легкость обращения к руководителю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9,45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94,5%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Комфорт работы с руководителем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9,37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93,7%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73%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Качество обратной связи руководителя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9,24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92,4%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57%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Взаимодействие внутри отдела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9,18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91,8%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61%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Уровень загрузки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9,10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91,0%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49%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Удовлетворённость задачами и проектами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8,54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85,4%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Удовлетворённость работой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8,49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84,9%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Коммуникации между смежными отделами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8,07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80,7%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Вознаграждение и мотивация vs вклад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7,72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77,2%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  <a:tr h="42811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Среднее по шкалам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8,80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88,0%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46720" y="1051560"/>
            <a:ext cx="37033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333333"/>
                </a:solidFill>
                <a:latin typeface="Calibri"/>
              </a:rPr>
              <a:t>Сильные стороны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Легко обратиться к руководителю — 9,45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Комфорт с руководителем — 9,37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Обратная связь — 9,24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Отношения в отделе — 9,18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Зоны внимания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Вознаграждение — 7,72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Коммуникации между отделами — 8,07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Карьерный рост «нет» — 43% (29 из 67)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Нет инструментов — 12% (8 из 67)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91640" y="201168"/>
            <a:ext cx="99669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2F2F2F"/>
                </a:solidFill>
                <a:latin typeface="Calibri"/>
              </a:rPr>
              <a:t>СиТЛ — оценки условий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91640" y="658368"/>
            <a:ext cx="98755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Сотрудники СиТЛ оценивали 10 условий от 0 до 10. База: 35 из 167. Вознаграждение — п. 8.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24128"/>
          <a:ext cx="74980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143000"/>
                <a:gridCol w="1143000"/>
                <a:gridCol w="1188720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Условие</a:t>
                      </a:r>
                    </a:p>
                  </a:txBody>
                  <a:tcPr anchor="ctr">
                    <a:solidFill>
                      <a:srgbClr val="2F2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Среднее</a:t>
                      </a:r>
                    </a:p>
                  </a:txBody>
                  <a:tcPr anchor="ctr">
                    <a:solidFill>
                      <a:srgbClr val="2F2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% от 10</a:t>
                      </a:r>
                    </a:p>
                  </a:txBody>
                  <a:tcPr anchor="ctr">
                    <a:solidFill>
                      <a:srgbClr val="2F2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Доля «10»</a:t>
                      </a:r>
                    </a:p>
                  </a:txBody>
                  <a:tcPr anchor="ctr">
                    <a:solidFill>
                      <a:srgbClr val="2F2F2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Легкость обращения к руководителю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8,80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88,0%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Комфорт работы с руководителем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8,51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85,1%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Уровень загрузки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8,46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84,6%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51%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Взаимодействие внутри отдела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8,20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82,0%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51%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Взаимодействие внутри филиала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7,89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78,9%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49%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Удовлетворённость работой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7,51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75,1%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Удобство и безопасность рабочего места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7,49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74,9%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Спецодежда и СИЗ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7,11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71,1%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Вознаграждение и мотивация vs вклад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6,69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66,9%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Состояние склада / автомобилей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6,43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64,3%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Среднее по шкалам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7,71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77,1%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46720" y="1024128"/>
            <a:ext cx="3703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333333"/>
                </a:solidFill>
                <a:latin typeface="Calibri"/>
              </a:rPr>
              <a:t>Сильные стороны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Легко обратиться к руководителю — 8,80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Комфорт с руководителем — 8,51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Загрузка — 8,46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Отношения в отделе — 8,20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Зоны внимания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Склад / автомобили — 6,43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Вознаграждение — 6,69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СИЗ и спецодежда — 7,11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Рабочее место — 7,49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Идеи не учитывают — 29% (10 из 35)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91640" y="201168"/>
            <a:ext cx="99669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2F2F2F"/>
                </a:solidFill>
                <a:latin typeface="Calibri"/>
              </a:rPr>
              <a:t>Общий вывод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Уровень вовлечённости оптового направления — 74%. Показатель стабилен к 2025 году (76,5%), цель роста на 10 п.п. не достигнута. Явка — 102 из 372 (КС 67 из 205, СиТЛ 35 из 167).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Разрыв, который стоит взять в план 2027: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• Вознаграждение и мотивация — самое слабое место в обоих контурах (КС 7,72 / СиТЛ 6,69).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• КС: коммуникации между смежными отделами (8,07) и карьера (43% не видят роста).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• СиТЛ: состояние склада и автомобилей (6,43), СИЗ (7,11), удобство и безопасность места (7,49).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• Люди и руководитель — опора: доступность руководителя и отношения в отделе высокие и в КС, и в СиТЛ.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91640" y="201168"/>
            <a:ext cx="99669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2F2F2F"/>
                </a:solidFill>
                <a:latin typeface="Calibri"/>
              </a:rPr>
              <a:t>Рекомендации от HR-отдела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91640" y="658368"/>
            <a:ext cx="98755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План опирается на меры 2025 и дополнен тем, что показали шкалы 2026.    *приоритет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*  Совещание с сотрудниками опта: показать, что оценки 2026 услышаны; отдельно разобрать КС и СиТЛ.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*  Мониторинг зарплат vs рынок, инфляция и индексация; встречи по мотивации внутри компании и от поставщиков.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СиТЛ: ремонт/утепление складов, состояние авто, СИЗ и спецобувь, базовый интернет.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КС: коммуникации между отделами (регламент, стыки, 1С/автоматизация) и видимость карьерного трека / кадрового резерва.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Корпоративные квизы между филиалами, активности к юбилею компании; внутреннее развитие и делегирование сложных задач.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Повысить явку на следующий опрос (сейчас 102 из 372): короче форма, напоминания, отдельный контур склада.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Оценка эффекта: повторный опрос, сравнение тех же шкал внутри направления, корректировка плана по факту.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СПАСИБО
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